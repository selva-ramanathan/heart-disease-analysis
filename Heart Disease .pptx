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714"/>
  </p:normalViewPr>
  <p:slideViewPr>
    <p:cSldViewPr snapToGrid="0">
      <p:cViewPr varScale="1">
        <p:scale>
          <a:sx n="112" d="100"/>
          <a:sy n="112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F365-94E0-5A75-19C6-A8E9D73B1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Heart Disease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51595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958F-721E-9FCF-AA94-F33F08B1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E6A5D-3CF4-BE0F-6DC2-65FA9066F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Aim was to investigate relationships between physiological measurements and heart disease diagnosis</a:t>
            </a:r>
          </a:p>
          <a:p>
            <a:pPr marL="0" indent="0">
              <a:buNone/>
            </a:pPr>
            <a:r>
              <a:rPr lang="en-US" dirty="0"/>
              <a:t>Key questions:</a:t>
            </a:r>
          </a:p>
          <a:p>
            <a:r>
              <a:rPr lang="en-US" dirty="0"/>
              <a:t>Does maximum heart rate (</a:t>
            </a:r>
            <a:r>
              <a:rPr lang="en-US" dirty="0" err="1"/>
              <a:t>thalach</a:t>
            </a:r>
            <a:r>
              <a:rPr lang="en-US" dirty="0"/>
              <a:t>) differ between people with and without heart disease?</a:t>
            </a:r>
          </a:p>
          <a:p>
            <a:r>
              <a:rPr lang="en-US" dirty="0"/>
              <a:t>Does resting blood pressure (</a:t>
            </a:r>
            <a:r>
              <a:rPr lang="en-US" dirty="0" err="1"/>
              <a:t>trestbps</a:t>
            </a:r>
            <a:r>
              <a:rPr lang="en-US" dirty="0"/>
              <a:t>) differ between groups?</a:t>
            </a:r>
          </a:p>
          <a:p>
            <a:r>
              <a:rPr lang="en-US" dirty="0"/>
              <a:t>Does chest pain type (cp) affect max heart rate?</a:t>
            </a:r>
          </a:p>
          <a:p>
            <a:r>
              <a:rPr lang="en-US" dirty="0"/>
              <a:t>Is there an association between chest pain type and heart disease diagnosis? </a:t>
            </a:r>
          </a:p>
        </p:txBody>
      </p:sp>
    </p:spTree>
    <p:extLst>
      <p:ext uri="{BB962C8B-B14F-4D97-AF65-F5344CB8AC3E}">
        <p14:creationId xmlns:p14="http://schemas.microsoft.com/office/powerpoint/2010/main" val="387493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AF32-679C-C44D-3346-266CF99D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3F120-319F-A0B5-C3D6-E1C89EA74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29111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Heart Disease Dataset</a:t>
            </a:r>
          </a:p>
          <a:p>
            <a:pPr marL="0" indent="0">
              <a:buNone/>
            </a:pPr>
            <a:r>
              <a:rPr lang="en-US" dirty="0"/>
              <a:t>Statistical methods used:</a:t>
            </a:r>
          </a:p>
          <a:p>
            <a:r>
              <a:rPr lang="en-US" dirty="0"/>
              <a:t>Two-sample t-test</a:t>
            </a:r>
          </a:p>
          <a:p>
            <a:r>
              <a:rPr lang="en-US" dirty="0"/>
              <a:t>ANOVA</a:t>
            </a:r>
          </a:p>
          <a:p>
            <a:r>
              <a:rPr lang="en-US" dirty="0"/>
              <a:t>Tukey’s HSD Test</a:t>
            </a:r>
          </a:p>
          <a:p>
            <a:r>
              <a:rPr lang="en-US" dirty="0"/>
              <a:t>Chi-Square test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00BF28-BEC2-D762-484F-7268D2A29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910702"/>
              </p:ext>
            </p:extLst>
          </p:nvPr>
        </p:nvGraphicFramePr>
        <p:xfrm>
          <a:off x="4769668" y="2290052"/>
          <a:ext cx="6285186" cy="1868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593">
                  <a:extLst>
                    <a:ext uri="{9D8B030D-6E8A-4147-A177-3AD203B41FA5}">
                      <a16:colId xmlns:a16="http://schemas.microsoft.com/office/drawing/2014/main" val="1746664740"/>
                    </a:ext>
                  </a:extLst>
                </a:gridCol>
                <a:gridCol w="3142593">
                  <a:extLst>
                    <a:ext uri="{9D8B030D-6E8A-4147-A177-3AD203B41FA5}">
                      <a16:colId xmlns:a16="http://schemas.microsoft.com/office/drawing/2014/main" val="1465427512"/>
                    </a:ext>
                  </a:extLst>
                </a:gridCol>
              </a:tblGrid>
              <a:tr h="384696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391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thalach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 heart rate achieved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trestbps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Resting blood pressure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860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Chest pain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0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heart_disease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Diagnosis of heart 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424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60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3E0B-9FC3-7CA4-0996-BE0659ED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heart rate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AF982-CD34-05CB-2149-29642B9AF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767875" cy="36649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T-test: </a:t>
            </a:r>
            <a:r>
              <a:rPr lang="en-US" sz="1100" dirty="0" err="1"/>
              <a:t>thalach</a:t>
            </a:r>
            <a:r>
              <a:rPr lang="en-US" sz="1100" dirty="0"/>
              <a:t> vs Heart Disease:</a:t>
            </a:r>
          </a:p>
          <a:p>
            <a:pPr marL="0" indent="0">
              <a:buNone/>
            </a:pPr>
            <a:r>
              <a:rPr lang="en-US" sz="1100" dirty="0"/>
              <a:t>Compared average max heart rate between </a:t>
            </a:r>
          </a:p>
          <a:p>
            <a:r>
              <a:rPr lang="en-US" sz="1100" dirty="0"/>
              <a:t>Patients with heart disease</a:t>
            </a:r>
          </a:p>
          <a:p>
            <a:r>
              <a:rPr lang="en-US" sz="1100" dirty="0"/>
              <a:t>Patients without heart disease</a:t>
            </a:r>
          </a:p>
          <a:p>
            <a:pPr marL="0" indent="0">
              <a:buNone/>
            </a:pPr>
            <a:r>
              <a:rPr lang="en-US" sz="1100" dirty="0"/>
              <a:t>Null hypothesis:</a:t>
            </a:r>
          </a:p>
          <a:p>
            <a:pPr marL="0" indent="0">
              <a:buNone/>
            </a:pPr>
            <a:r>
              <a:rPr lang="en-US" sz="1100" dirty="0"/>
              <a:t>The average maximum heart rate is the same for patients with and without heart disease.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Alternative hypothesis:</a:t>
            </a:r>
          </a:p>
          <a:p>
            <a:pPr marL="0" indent="0">
              <a:buNone/>
            </a:pPr>
            <a:r>
              <a:rPr lang="en-US" sz="1100" dirty="0"/>
              <a:t>The average maximum heart rate differs between the two groups.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Result: p-</a:t>
            </a:r>
            <a:r>
              <a:rPr lang="en-US" sz="1100" dirty="0" err="1"/>
              <a:t>val</a:t>
            </a:r>
            <a:r>
              <a:rPr lang="en-US" sz="1100" dirty="0"/>
              <a:t> &lt;0.05, we reject the null hypothesis.</a:t>
            </a:r>
          </a:p>
          <a:p>
            <a:pPr marL="0" indent="0">
              <a:buNone/>
            </a:pPr>
            <a:r>
              <a:rPr lang="en-US" sz="1100" dirty="0"/>
              <a:t>Max Heart rate significantly differs between the two groups.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DBB62-6B1A-F29E-715D-D07BDE7D4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454" y="2134047"/>
            <a:ext cx="38354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5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C45D-B166-8421-1B03-65581848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Resting blood pressure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0087F-70C2-93B5-6A86-2E17EB8D8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771024" cy="3450613"/>
          </a:xfrm>
        </p:spPr>
        <p:txBody>
          <a:bodyPr/>
          <a:lstStyle/>
          <a:p>
            <a:r>
              <a:rPr lang="en-US" dirty="0"/>
              <a:t>T-test: </a:t>
            </a:r>
            <a:r>
              <a:rPr lang="en-US" dirty="0" err="1"/>
              <a:t>trestbps</a:t>
            </a:r>
            <a:r>
              <a:rPr lang="en-US" dirty="0"/>
              <a:t> vs Heart Disease</a:t>
            </a:r>
          </a:p>
          <a:p>
            <a:pPr marL="0" indent="0">
              <a:buNone/>
            </a:pPr>
            <a:r>
              <a:rPr lang="en-US" dirty="0"/>
              <a:t>Does resting blood pressure differ significantly between patients with and without heart disease?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Result: p-</a:t>
            </a:r>
            <a:r>
              <a:rPr lang="en-US" dirty="0" err="1"/>
              <a:t>val</a:t>
            </a:r>
            <a:r>
              <a:rPr lang="en-US" dirty="0"/>
              <a:t> &lt; 0.05, therefore there is a statistically significant difference in resting blood pressure between the two groups.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3FA52-E649-287A-CE14-600811EB1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954" y="2015732"/>
            <a:ext cx="36449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2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83E3-77A1-9956-499B-3640A675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Chest pain type and heart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D622A-98DE-31C1-C5CA-B4AD0A220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169140" cy="345061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ANOVA test</a:t>
            </a:r>
          </a:p>
          <a:p>
            <a:pPr marL="0" indent="0">
              <a:buNone/>
            </a:pPr>
            <a:r>
              <a:rPr lang="en-US" dirty="0"/>
              <a:t>Tested whether average maximum heart rate differs between chest pain types.</a:t>
            </a:r>
          </a:p>
          <a:p>
            <a:pPr marL="0" indent="0">
              <a:buNone/>
            </a:pPr>
            <a:r>
              <a:rPr lang="en-US" dirty="0"/>
              <a:t>Result: p-</a:t>
            </a:r>
            <a:r>
              <a:rPr lang="en-US" dirty="0" err="1"/>
              <a:t>val</a:t>
            </a:r>
            <a:r>
              <a:rPr lang="en-US" dirty="0"/>
              <a:t> &lt; 0.05 </a:t>
            </a:r>
          </a:p>
          <a:p>
            <a:pPr marL="0" indent="0">
              <a:buNone/>
            </a:pPr>
            <a:r>
              <a:rPr lang="en-US" dirty="0"/>
              <a:t>At least one chest pain group has a significantly different average maximum heart rate.</a:t>
            </a:r>
          </a:p>
          <a:p>
            <a:pPr marL="0" indent="0">
              <a:buNone/>
            </a:pPr>
            <a:r>
              <a:rPr lang="en-US" dirty="0"/>
              <a:t>To </a:t>
            </a:r>
            <a:r>
              <a:rPr lang="en-US" dirty="0" err="1"/>
              <a:t>determin</a:t>
            </a:r>
            <a:r>
              <a:rPr lang="en-US" dirty="0"/>
              <a:t> which groups differed, we used Tukey’s HSD test, which identified the specific pairs with significant differences.  </a:t>
            </a:r>
          </a:p>
          <a:p>
            <a:pPr marL="0" indent="0">
              <a:buNone/>
            </a:pPr>
            <a:r>
              <a:rPr lang="en-US" dirty="0"/>
              <a:t>Because there are four chest pain categories, a t-test cannot be used. ANOVA allows comparison of the mean maximum heart rate across multiple groups.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C8805-E07C-4FC7-9607-ABF206CDF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80" y="2044700"/>
            <a:ext cx="4345598" cy="31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21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9A4E-F0E1-5841-DDD8-D91451AA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Chest pain and heart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DE45-B481-4A69-51FC-85ECAB12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320074" cy="34506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Chi-Square test</a:t>
            </a:r>
          </a:p>
          <a:p>
            <a:pPr marL="0" indent="0">
              <a:buNone/>
            </a:pPr>
            <a:r>
              <a:rPr lang="en-US" dirty="0"/>
              <a:t>Examined whether chest pain type is associated with heart disease diagnosis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Table shows counts of patients with and without heart disease across chest pain types.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Result: p-</a:t>
            </a:r>
            <a:r>
              <a:rPr lang="en-US" dirty="0" err="1"/>
              <a:t>val</a:t>
            </a:r>
            <a:r>
              <a:rPr lang="en-US" dirty="0"/>
              <a:t> &lt;0.05 meaning there is a significant association between chest pain type and heart disease diagnosis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F9E61-7FD5-A121-6CB0-FE1BCEA4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654" y="2407538"/>
            <a:ext cx="52832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16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D2F4-01CD-A12A-AED2-25AF2402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F675B-78C4-5B70-3FD5-C2905FEE5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Findings</a:t>
            </a:r>
          </a:p>
          <a:p>
            <a:pPr marL="0" indent="0">
              <a:buNone/>
            </a:pPr>
            <a:r>
              <a:rPr lang="en-US" dirty="0"/>
              <a:t>The analysis revealed several important relationships:</a:t>
            </a:r>
          </a:p>
          <a:p>
            <a:r>
              <a:rPr lang="en-US" dirty="0"/>
              <a:t>Maximum heart rate differs significantly between </a:t>
            </a:r>
            <a:r>
              <a:rPr lang="en-US" dirty="0" err="1"/>
              <a:t>individueals</a:t>
            </a:r>
            <a:r>
              <a:rPr lang="en-US" dirty="0"/>
              <a:t> with and without heart disease.</a:t>
            </a:r>
          </a:p>
          <a:p>
            <a:r>
              <a:rPr lang="en-US" dirty="0"/>
              <a:t>Resting blood pressure also shows a significant difference between groups.</a:t>
            </a:r>
          </a:p>
          <a:p>
            <a:r>
              <a:rPr lang="en-US" dirty="0"/>
              <a:t>Chest pain type is associated with differences in maximum </a:t>
            </a:r>
            <a:r>
              <a:rPr lang="en-US"/>
              <a:t>heart rate</a:t>
            </a:r>
            <a:endParaRPr lang="en-US" dirty="0"/>
          </a:p>
          <a:p>
            <a:r>
              <a:rPr lang="en-US" dirty="0"/>
              <a:t>Chest pain type is strongly associated with heart disease diagnosis</a:t>
            </a:r>
          </a:p>
          <a:p>
            <a:pPr marL="0" indent="0">
              <a:buNone/>
            </a:pPr>
            <a:r>
              <a:rPr lang="en-US" dirty="0"/>
              <a:t>Overall, chest pain type and physiological measurements appear to be important indicators of heart disease risk.</a:t>
            </a:r>
          </a:p>
        </p:txBody>
      </p:sp>
    </p:spTree>
    <p:extLst>
      <p:ext uri="{BB962C8B-B14F-4D97-AF65-F5344CB8AC3E}">
        <p14:creationId xmlns:p14="http://schemas.microsoft.com/office/powerpoint/2010/main" val="27406359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90</TotalTime>
  <Words>449</Words>
  <Application>Microsoft Macintosh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Heart Disease Data analysis</vt:lpstr>
      <vt:lpstr>Objectives</vt:lpstr>
      <vt:lpstr>Dataset</vt:lpstr>
      <vt:lpstr>Maximum heart rate analysis</vt:lpstr>
      <vt:lpstr>Resting blood pressure analysis</vt:lpstr>
      <vt:lpstr>Chest pain type and heart rate</vt:lpstr>
      <vt:lpstr>Chest pain and heart disease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 J</dc:creator>
  <cp:lastModifiedBy>Selva J</cp:lastModifiedBy>
  <cp:revision>11</cp:revision>
  <dcterms:created xsi:type="dcterms:W3CDTF">2026-03-11T17:43:35Z</dcterms:created>
  <dcterms:modified xsi:type="dcterms:W3CDTF">2026-03-11T19:19:55Z</dcterms:modified>
</cp:coreProperties>
</file>